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7086F-03F0-7F75-58D4-F7412169F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CAB3A-FE1C-5541-C134-783A720B8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81730-5F6D-A05D-FE7B-66557B0C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5AFF6-113A-8EAB-7C6D-BE1AA09A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3A427-E56A-AB79-646B-AC461B62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822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3A46-D176-6028-26C6-A446C342E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3C012-815C-DD07-B515-EF49FBDF6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1B117-5A8D-AD63-7DF2-21899627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F9831-D264-3941-9E78-ADC4F5201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A897BC-827C-580B-B58E-15EFAEDA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54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8924-DA86-9AA8-2A4E-A4009586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4AC2E-2BDD-E161-D375-691F6AB4D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510EF-18DD-9679-08C9-2F41642E2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7E3AB-D3BC-9F46-1FCD-6E80FE3E0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B6F67-EF9D-56BF-895C-F57BFF63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2916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C631-4FD5-0D6F-B5D0-2F4873407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10194-2977-DA92-704F-3D04537344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F09D68-210D-3F97-D8AD-9830E5DDF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571BB-B02A-3142-3201-4C3312FB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A24B8-0F40-8BBA-A747-BAE55767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2EF847-24B2-3D07-FB49-4013D1CFD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467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B008-EC68-386D-5520-D672622F1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337FE8-DC4C-5A6C-67F5-5E6A2E7FA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374976-A7C6-A27F-442B-F13505D72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AF365-3352-939B-AC01-D6FB44A32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9AF5D7-1325-30EF-8302-E7AF51E8F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F88021-3353-0C17-3E1D-84F32B1CC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1E943-49CA-6555-707A-71EB5342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11643-BB60-99BE-9A5A-F8D9316C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96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F89D-A1BF-8E56-CB25-F01D1A41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164E2-F583-1209-9BF8-3AC723B76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6D9780-DD3B-8275-723B-8655F5C5E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209F7-8C1B-B7A1-C3E0-9A1C47FA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527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5D37D-0ACF-6517-FF52-2BC5D3F4C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5345F-0DFA-AC83-9662-8C101DA6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29BEA-8B11-BE37-408F-9B2050FA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795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60592-4757-6030-DD3C-D7D2BBD72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235A3-62F4-D5DF-E19D-728CE471E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73533-68AD-64FF-E534-482F52AA2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2974D-0BD7-D78D-8521-E7700693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83FF0-4FD7-3B48-F449-619C1709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6A624-134A-9DA0-11B1-2BC26472B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0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CC625-B16D-5021-459C-D5406CC70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BB30E-5865-34AC-2AB3-26E136B6B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7FBF03-07DF-5A26-6D4A-AA786C306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C6AE2-DAFA-86C4-61E1-D8FE53CB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5293A-7AC2-CD0B-97A4-6FC88EDC1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D804F-71D6-391A-6413-CFBE28D8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018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A085-35F2-2ECC-AE3E-6221AC67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ACFEBA-D844-539C-4947-7D6F32B9A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8DDA5-A316-8280-7F26-C40A0600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C8015-3780-36C9-AD13-EF65E524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92BA6-AF18-D14D-1E2A-E044D2CA2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424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CCE48A-9A3B-1A0B-CC5B-625851B99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7B800-0E57-6468-3753-D57D1E18A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CBDD3-78BE-353C-8C34-C839560EE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1A9D7-7B99-341C-51AE-3C356B1B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CA34D-5AA2-BE5E-16BF-15BDB1636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48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37AB2F-E283-DA82-9708-980DC756D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A55DD-D312-332F-23B4-9519BEDA7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0E1E9-9F6D-C437-C1F0-96155C7163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23420-F84C-4D9B-88EC-0CEEEB4A27CB}" type="datetimeFigureOut">
              <a:rPr lang="en-GB" smtClean="0"/>
              <a:t>05/08/2026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9D99B-F7F5-708B-8379-3F9B6ABF4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83554-1B61-BF26-E28B-3689958DE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32DFA6-9743-424A-9608-05B67C80D9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187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076879-F117-153C-DD5D-4CCEDB951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01" y="0"/>
            <a:ext cx="83415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3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EFD2-8CE9-6706-8D45-26BF75C7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6A08F-7528-8B18-DA22-286A7603FF29}"/>
              </a:ext>
            </a:extLst>
          </p:cNvPr>
          <p:cNvSpPr txBox="1"/>
          <p:nvPr/>
        </p:nvSpPr>
        <p:spPr>
          <a:xfrm>
            <a:off x="644469" y="1034668"/>
            <a:ext cx="1089644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l" rtl="0" fontAlgn="base">
              <a:buNone/>
            </a:pPr>
            <a:r>
              <a:rPr lang="en-GB" sz="1800" b="1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Problem Statement</a:t>
            </a:r>
            <a:endParaRPr lang="en-GB" sz="1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marR="0" indent="0" algn="l" rtl="0" fontAlgn="base">
              <a:buNone/>
            </a:pPr>
            <a:r>
              <a:rPr lang="en-GB" sz="18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  <a:endParaRPr lang="en-GB" sz="1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0" marR="0" indent="0" algn="l" rtl="0" fontAlgn="base">
              <a:buNone/>
            </a:pPr>
            <a:r>
              <a:rPr lang="en-GB" sz="18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US$84 trillion in wealth is set to transfer to a generation that has never known banking without a smartphone. </a:t>
            </a:r>
          </a:p>
          <a:p>
            <a:pPr marL="0" marR="0" indent="0" algn="l" rtl="0" fontAlgn="base">
              <a:buNone/>
            </a:pPr>
            <a:r>
              <a:rPr lang="en-GB" sz="18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Yet private banking's client experience remains largely manual, </a:t>
            </a:r>
          </a:p>
          <a:p>
            <a:pPr marL="0" marR="0" indent="0" algn="l" rtl="0" fontAlgn="base">
              <a:buNone/>
            </a:pPr>
            <a:r>
              <a:rPr lang="en-GB" sz="18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relationship-dependent, and slow to personalise at scale. </a:t>
            </a:r>
          </a:p>
          <a:p>
            <a:pPr marL="0" marR="0" indent="0" algn="l" rtl="0" fontAlgn="base">
              <a:buNone/>
            </a:pPr>
            <a:endParaRPr lang="en-GB" i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0" marR="0" indent="0" algn="l" rtl="0" fontAlgn="base">
              <a:buNone/>
            </a:pPr>
            <a:r>
              <a:rPr lang="en-GB" sz="18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How might we use AI to deliver a seamless, hyper-personalised digital journey</a:t>
            </a:r>
          </a:p>
          <a:p>
            <a:pPr marL="0" marR="0" indent="0" algn="l" rtl="0" fontAlgn="base">
              <a:buNone/>
            </a:pPr>
            <a:r>
              <a:rPr lang="en-GB" sz="18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— from onboarding to portfolio advisory </a:t>
            </a:r>
          </a:p>
          <a:p>
            <a:pPr marL="0" marR="0" indent="0" algn="l" rtl="0" fontAlgn="base">
              <a:buNone/>
            </a:pPr>
            <a:r>
              <a:rPr lang="en-GB" sz="1800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— that meets next-generation wealth clients where they are?</a:t>
            </a:r>
            <a:endParaRPr lang="en-GB" sz="1800" b="0" i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20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206B1-00D6-E0DF-6B7E-B7CA4D9FC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DDDEE5-4C19-E3DA-2A6D-8F30F9504A73}"/>
              </a:ext>
            </a:extLst>
          </p:cNvPr>
          <p:cNvSpPr txBox="1"/>
          <p:nvPr/>
        </p:nvSpPr>
        <p:spPr>
          <a:xfrm>
            <a:off x="567466" y="1005792"/>
            <a:ext cx="115475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rtl="0" fontAlgn="base">
              <a:buNone/>
            </a:pPr>
            <a:r>
              <a:rPr lang="en-GB" sz="1800" b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Solution – CAS Voice for Wealth Management</a:t>
            </a:r>
          </a:p>
          <a:p>
            <a:pPr marL="0" marR="0" indent="0" algn="l" rtl="0" fontAlgn="base">
              <a:buNone/>
            </a:pPr>
            <a:endParaRPr lang="en-GB" b="1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lvl="1" fontAlgn="base"/>
            <a:r>
              <a:rPr lang="en-GB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Secure real-time data, information and intelligence extraction from live conversations </a:t>
            </a:r>
          </a:p>
          <a:p>
            <a:pPr lvl="1" fontAlgn="base"/>
            <a:r>
              <a:rPr lang="en-GB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without intrusion and obstruction to power automated banking procedures.</a:t>
            </a:r>
          </a:p>
          <a:p>
            <a:pPr marL="0" marR="0" indent="0" algn="l" rtl="0" fontAlgn="base">
              <a:buNone/>
            </a:pPr>
            <a:r>
              <a:rPr lang="en-GB" sz="1800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GB" dirty="0"/>
              <a:t>Silent Mobile Phone Carrier Handshake Authentication  + SIM Swap (</a:t>
            </a:r>
            <a:r>
              <a:rPr lang="en-GB" i="1" dirty="0"/>
              <a:t>CAMARA</a:t>
            </a:r>
            <a:r>
              <a:rPr lang="en-GB" dirty="0"/>
              <a:t>)</a:t>
            </a:r>
            <a:br>
              <a:rPr lang="en-GB" dirty="0"/>
            </a:br>
            <a:endParaRPr lang="en-GB" dirty="0"/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Device Biometric Identification (</a:t>
            </a:r>
            <a:r>
              <a:rPr lang="en-GB" i="1" dirty="0" err="1">
                <a:solidFill>
                  <a:srgbClr val="000000"/>
                </a:solidFill>
                <a:latin typeface="Aptos" panose="020B0004020202020204" pitchFamily="34" charset="0"/>
              </a:rPr>
              <a:t>WebAuthn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)</a:t>
            </a:r>
            <a:b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GB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Use an </a:t>
            </a:r>
            <a:r>
              <a:rPr lang="en-GB" dirty="0"/>
              <a:t>AML Data Provider to fetch legal name/address of verified </a:t>
            </a:r>
            <a:r>
              <a:rPr lang="en-GB"/>
              <a:t>phone number</a:t>
            </a:r>
            <a:b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GB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GB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Direct Line </a:t>
            </a: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C</a:t>
            </a:r>
            <a:r>
              <a:rPr lang="en-GB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onnection between HNW Client and human Financial Adviser (</a:t>
            </a:r>
            <a:r>
              <a:rPr lang="en-GB" b="0" i="1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CAS Voice Shared Lines</a:t>
            </a:r>
            <a:r>
              <a:rPr lang="en-GB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)</a:t>
            </a:r>
            <a:br>
              <a:rPr lang="en-GB" b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lang="en-GB" b="0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Low-Latency Speech-to-Speech communication between </a:t>
            </a:r>
            <a:b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</a:br>
            <a: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  <a:t>HNW Client and virtual Financial Adviser (OpenAI gpt-realtime-2.1)</a:t>
            </a:r>
            <a:br>
              <a:rPr lang="en-GB" dirty="0">
                <a:solidFill>
                  <a:srgbClr val="000000"/>
                </a:solidFill>
                <a:latin typeface="Aptos" panose="020B0004020202020204" pitchFamily="34" charset="0"/>
              </a:rPr>
            </a:br>
            <a:endParaRPr lang="en-GB" dirty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34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B3927-89F3-2F1C-7D85-E6F8C29D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4719F0-7949-5AA7-4FB0-92166BE482CA}"/>
              </a:ext>
            </a:extLst>
          </p:cNvPr>
          <p:cNvSpPr txBox="1"/>
          <p:nvPr/>
        </p:nvSpPr>
        <p:spPr>
          <a:xfrm>
            <a:off x="519339" y="534154"/>
            <a:ext cx="115475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Demo - Smart Onboarding Engine</a:t>
            </a:r>
            <a:br>
              <a:rPr lang="en-GB" b="1" dirty="0"/>
            </a:br>
            <a:endParaRPr lang="en-GB" b="1" dirty="0"/>
          </a:p>
          <a:p>
            <a:r>
              <a:rPr lang="en-GB" dirty="0"/>
              <a:t>The demo Smart Onboarding Engine is a low-latency onboarding platform designed for private wealth management institutions. It collapses the traditional 14-to-30-day High-Net-Worth (HNW) client onboarding process into a single, 45-to-90-minute live session.</a:t>
            </a:r>
            <a:br>
              <a:rPr lang="en-GB" dirty="0"/>
            </a:br>
            <a:endParaRPr lang="en-GB" dirty="0"/>
          </a:p>
          <a:p>
            <a:r>
              <a:rPr lang="en-GB" dirty="0"/>
              <a:t>By replacing slow, disconnected compliance tasks with synchronous automation, the platform minimizes client drop-off risks, drastically improves conversion rates, and reduces administrative overhead.</a:t>
            </a:r>
          </a:p>
          <a:p>
            <a:br>
              <a:rPr lang="en-GB" b="1" dirty="0"/>
            </a:br>
            <a:r>
              <a:rPr lang="en-GB" b="1" dirty="0"/>
              <a:t>The Innovation: The Tri-Partite Conversation Model</a:t>
            </a:r>
          </a:p>
          <a:p>
            <a:r>
              <a:rPr lang="en-GB" dirty="0"/>
              <a:t>The platform introduces a collaborative, real-time onboarding workspace: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AI Digital Financial Adviser</a:t>
            </a:r>
            <a:r>
              <a:rPr lang="en-GB" dirty="0"/>
              <a:t>: Leads the conversational discovery interview, naturally gathering net worth data and automatically populating KYC form fields via real-time speech analytics.</a:t>
            </a:r>
            <a:br>
              <a:rPr lang="en-GB" dirty="0"/>
            </a:b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The HNW Client</a:t>
            </a:r>
            <a:r>
              <a:rPr lang="en-GB" dirty="0"/>
              <a:t>: Experiences a premium, zero-friction, voice-driven interaction on their mobile device without tedious multi-page form filling.</a:t>
            </a:r>
            <a:br>
              <a:rPr lang="en-GB" dirty="0"/>
            </a:b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The Human Lead Adviser</a:t>
            </a:r>
            <a:r>
              <a:rPr lang="en-GB" dirty="0"/>
              <a:t>: Monitors a high-utility compliance dashboard passively, stepping into the audio stream to guide the client the exact moment a high-risk regulatory flag appears.</a:t>
            </a:r>
          </a:p>
        </p:txBody>
      </p:sp>
    </p:spTree>
    <p:extLst>
      <p:ext uri="{BB962C8B-B14F-4D97-AF65-F5344CB8AC3E}">
        <p14:creationId xmlns:p14="http://schemas.microsoft.com/office/powerpoint/2010/main" val="1510164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dvisers say digital wealth managers pushing them into retirement –  International Adviser">
            <a:extLst>
              <a:ext uri="{FF2B5EF4-FFF2-40B4-BE49-F238E27FC236}">
                <a16:creationId xmlns:a16="http://schemas.microsoft.com/office/drawing/2014/main" id="{32EFBF5F-5D5F-B269-6963-14C716FE2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174" y="711200"/>
            <a:ext cx="3497610" cy="2433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AA7E6-6287-3A51-7098-C75D28B8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11200"/>
            <a:ext cx="1957813" cy="3632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E2D945-4165-C61D-FFA5-D2B293085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199" y="3932054"/>
            <a:ext cx="4507271" cy="2925946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D372E17-4421-D34B-8772-632265F053A1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1444821" y="3877485"/>
            <a:ext cx="1467465" cy="2399293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298D770-36B4-13F0-C134-3D1CE945933F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51872" y="3180441"/>
            <a:ext cx="2707968" cy="2361528"/>
          </a:xfrm>
          <a:prstGeom prst="bentConnector3">
            <a:avLst>
              <a:gd name="adj1" fmla="val 62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E460DE-0353-789A-C847-27083A8F63E0}"/>
              </a:ext>
            </a:extLst>
          </p:cNvPr>
          <p:cNvCxnSpPr/>
          <p:nvPr/>
        </p:nvCxnSpPr>
        <p:spPr>
          <a:xfrm>
            <a:off x="1957813" y="1858297"/>
            <a:ext cx="65274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AEB85AD-F81C-2F3B-BF9D-6E5E7F9C1CAA}"/>
              </a:ext>
            </a:extLst>
          </p:cNvPr>
          <p:cNvSpPr txBox="1"/>
          <p:nvPr/>
        </p:nvSpPr>
        <p:spPr>
          <a:xfrm>
            <a:off x="0" y="67667"/>
            <a:ext cx="6184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HNW Client on Smart-Phone </a:t>
            </a:r>
          </a:p>
          <a:p>
            <a:r>
              <a:rPr lang="en-GB" dirty="0"/>
              <a:t>Mobile Identity Verification API 2.0 – Silent Carier Handshake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5E12BF-6B49-C923-80DF-6C0A4F721527}"/>
              </a:ext>
            </a:extLst>
          </p:cNvPr>
          <p:cNvSpPr txBox="1"/>
          <p:nvPr/>
        </p:nvSpPr>
        <p:spPr>
          <a:xfrm>
            <a:off x="8760172" y="341868"/>
            <a:ext cx="33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Digital Wealth Financial Adviser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466D6E-3587-5F01-9186-18ABE6A254AC}"/>
              </a:ext>
            </a:extLst>
          </p:cNvPr>
          <p:cNvSpPr txBox="1"/>
          <p:nvPr/>
        </p:nvSpPr>
        <p:spPr>
          <a:xfrm>
            <a:off x="2946579" y="3541716"/>
            <a:ext cx="5370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Financial Adviser Team (Dashboard + CAS Voice Aria)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59D4EC-4611-936D-02C8-FD711DC7460A}"/>
              </a:ext>
            </a:extLst>
          </p:cNvPr>
          <p:cNvSpPr txBox="1"/>
          <p:nvPr/>
        </p:nvSpPr>
        <p:spPr>
          <a:xfrm>
            <a:off x="8346332" y="5577874"/>
            <a:ext cx="3778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Passive Listener ➔ Active Intervener</a:t>
            </a:r>
            <a:br>
              <a:rPr lang="en-GB" dirty="0"/>
            </a:br>
            <a:r>
              <a:rPr lang="en-GB" dirty="0"/>
              <a:t>Auto KYC form fields in JSON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94F72F-8DF4-E962-6CAE-F65472EE80BA}"/>
              </a:ext>
            </a:extLst>
          </p:cNvPr>
          <p:cNvSpPr txBox="1"/>
          <p:nvPr/>
        </p:nvSpPr>
        <p:spPr>
          <a:xfrm>
            <a:off x="2525791" y="1149128"/>
            <a:ext cx="5056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Simultaneous very low latency Speech-to-Speech</a:t>
            </a:r>
          </a:p>
          <a:p>
            <a:pPr algn="ctr"/>
            <a:r>
              <a:rPr lang="en-GB" dirty="0"/>
              <a:t>(OpenAI gpt-realtime-2.1)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F82640-85E7-8858-DDB5-824DD5235B9E}"/>
              </a:ext>
            </a:extLst>
          </p:cNvPr>
          <p:cNvSpPr txBox="1"/>
          <p:nvPr/>
        </p:nvSpPr>
        <p:spPr>
          <a:xfrm>
            <a:off x="725438" y="5907876"/>
            <a:ext cx="2422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CAS Voice Shared Line</a:t>
            </a:r>
          </a:p>
        </p:txBody>
      </p:sp>
    </p:spTree>
    <p:extLst>
      <p:ext uri="{BB962C8B-B14F-4D97-AF65-F5344CB8AC3E}">
        <p14:creationId xmlns:p14="http://schemas.microsoft.com/office/powerpoint/2010/main" val="3834735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396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Dele Olajide</dc:creator>
  <cp:lastModifiedBy>Dele Olajide</cp:lastModifiedBy>
  <cp:revision>11</cp:revision>
  <dcterms:created xsi:type="dcterms:W3CDTF">2026-07-21T17:51:45Z</dcterms:created>
  <dcterms:modified xsi:type="dcterms:W3CDTF">2026-08-05T15:36:56Z</dcterms:modified>
</cp:coreProperties>
</file>